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A14EAF8-A601-0C97-8FE6-3E72C22D181B}">
          <p14:sldIdLst>
            <p14:sldId id="256"/>
            <p14:sldId id="257"/>
          </p14:sldIdLst>
        </p14:section>
        <p14:section name="Design" id="{DDAAFD0B-7F4F-196E-E5EC-FC962ED3662F}">
          <p14:sldIdLst>
            <p14:sldId id="258"/>
            <p14:sldId id="259"/>
            <p14:sldId id="260"/>
          </p14:sldIdLst>
        </p14:section>
        <p14:section name="Implementation" id="{159ACF25-B84B-4FA7-7D50-6B89868F01D3}">
          <p14:sldIdLst>
            <p14:sldId id="261"/>
            <p14:sldId id="262"/>
            <p14:sldId id="263"/>
          </p14:sldIdLst>
        </p14:section>
        <p14:section name="Results" id="{3341732F-1B2D-CCB6-E843-1A5B8109FFCC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A26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E2A26"/>
                </a:solidFill>
                <a:latin typeface="+mn-lt"/>
              </a:rPr>
              <a:t>Tests by area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F9E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21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Cleanup (zombies, exit)</c:v>
                </c:pt>
                <c:pt idx="1">
                  <c:v>Termination (kill)</c:v>
                </c:pt>
                <c:pt idx="2">
                  <c:v>Terminal job control</c:v>
                </c:pt>
                <c:pt idx="3">
                  <c:v>Background jobs</c:v>
                </c:pt>
                <c:pt idx="4">
                  <c:v>Execution and parsing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7</c:v>
                </c:pt>
                <c:pt idx="3">
                  <c:v>8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C-4997-B349-4977EF7BF5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1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3991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build a shell that runs commands, runs jobs in the background, lists them and terminates them. Everything shown on the right is real output from our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problem statement. Four objectives map one-to-one to the four required capabilities. We added fg, bg and Ctrl-Z because real job management needs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Built-ins run inside the shell process. Everything else is forked. Foreground jobs are waited for; background jobs go into the job table and the prompt returns immediately. The SIGCHLD handler keeps the table up to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ideas are what make it a real job-control shell rather than just fork and exec. Be ready to explain why the handler does not printf: printf is not async-signal-safe, so the handler only edits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states. The transitions are driven by the SIGCHLD handler through waitpid flags WUNTRACED and WCONTINUED. A stopped job needs SIGCONT before it can act on SIGTERM, so kill sends SIGCONT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standard POSIX interfaces are used, with no external libraries, so it builds on any Linux machine with gcc and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setpgid is called in both parent and child: whichever runs first wins the race, so the group always exists before the parent acts on it. The child restores default signals because the shell itself ignores SIGINT and SIGTSTP.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of the command set. Ctrl-C interrupts and Ctrl-Z stops the foreground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Scripted tests cover parsing, redirection, job listing, kill and error handling. The pseudo-terminal tests send real Ctrl-C and Ctrl-Z keystrokes because job control only exists on a terminal. Tests only signal processes that mysh created, so they are safe to run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captured session, not a mock-up. During the live demo we repeat these steps and add Ctrl-Z, bg and fg.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Pipes would use one pipe() per stage and put all stages in one process group. All testing was done in a controlled environment using only harmless programs such as sleep and 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60120"/>
            <a:ext cx="48463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45720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mysh  |  Mini Linux Shell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mysh  |  Mini Linux Shell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601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Mini Linux Shell with Background Job Management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Command execution, background jobs, job listing and process termination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Operating Systems group project</a:t>
            </a:r>
            <a:endParaRPr lang="en-US" sz="1200" dirty="0"/>
          </a:p>
        </p:txBody>
      </p:sp>
      <p:sp>
        <p:nvSpPr>
          <p:cNvPr id="5" name="terminal window"/>
          <p:cNvSpPr/>
          <p:nvPr/>
        </p:nvSpPr>
        <p:spPr>
          <a:xfrm>
            <a:off x="5669280" y="1143000"/>
            <a:ext cx="3017520" cy="2651760"/>
          </a:xfrm>
          <a:prstGeom prst="roundRect">
            <a:avLst>
              <a:gd name="adj" fmla="val 275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" name="window dot 1"/>
          <p:cNvSpPr/>
          <p:nvPr/>
        </p:nvSpPr>
        <p:spPr>
          <a:xfrm>
            <a:off x="5852160" y="1307592"/>
            <a:ext cx="128016" cy="128016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" name="window dot 2"/>
          <p:cNvSpPr/>
          <p:nvPr/>
        </p:nvSpPr>
        <p:spPr>
          <a:xfrm>
            <a:off x="6089904" y="1307592"/>
            <a:ext cx="128016" cy="12801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" name="window dot 3"/>
          <p:cNvSpPr/>
          <p:nvPr/>
        </p:nvSpPr>
        <p:spPr>
          <a:xfrm>
            <a:off x="6327648" y="1307592"/>
            <a:ext cx="128016" cy="12801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5852160" y="16459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mysh&gt; sleep 60 &amp;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1117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mysh&gt; jobs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1114 Running  sleep 60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1118 Done     sleep 2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mysh&gt;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%1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 Terminated to [1] 1117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and objectives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problem text"/>
          <p:cNvSpPr txBox="1"/>
          <p:nvPr/>
        </p:nvSpPr>
        <p:spPr>
          <a:xfrm>
            <a:off x="685800" y="17830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shell where a user can start programs, push them to the background with &amp;, see what is running, and stop any of them.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shell must stay responsive, leave no zombie processes, and never be killed by the user's own Ctrl-C.</a:t>
            </a:r>
            <a:endParaRPr lang="en-US" sz="1400" dirty="0"/>
          </a:p>
        </p:txBody>
      </p:sp>
      <p:sp>
        <p:nvSpPr>
          <p:cNvPr id="6" name="objective 1 badge"/>
          <p:cNvSpPr/>
          <p:nvPr/>
        </p:nvSpPr>
        <p:spPr>
          <a:xfrm>
            <a:off x="4343400" y="1261872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objectiv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01" y="1409273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1206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Execute commands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arguments, quoting, &lt; &gt; &gt;&gt; redirection</a:t>
            </a:r>
            <a:endParaRPr lang="en-US" sz="1400" dirty="0"/>
          </a:p>
        </p:txBody>
      </p:sp>
      <p:sp>
        <p:nvSpPr>
          <p:cNvPr id="10" name="objective 2 badge"/>
          <p:cNvSpPr/>
          <p:nvPr/>
        </p:nvSpPr>
        <p:spPr>
          <a:xfrm>
            <a:off x="4343400" y="2112264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objectiv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801" y="225966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2039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Run in background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120640" y="2404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trailing &amp; returns the prompt at once</a:t>
            </a:r>
            <a:endParaRPr lang="en-US" sz="1400" dirty="0"/>
          </a:p>
        </p:txBody>
      </p:sp>
      <p:sp>
        <p:nvSpPr>
          <p:cNvPr id="14" name="objective 3 badge"/>
          <p:cNvSpPr/>
          <p:nvPr/>
        </p:nvSpPr>
        <p:spPr>
          <a:xfrm>
            <a:off x="4343400" y="2962656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5" name="objectiv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801" y="3110057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2889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List jobs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120640" y="32552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jobs shows ID, PID, state, command</a:t>
            </a:r>
            <a:endParaRPr lang="en-US" sz="1400" dirty="0"/>
          </a:p>
        </p:txBody>
      </p:sp>
      <p:sp>
        <p:nvSpPr>
          <p:cNvPr id="18" name="objective 4 badge"/>
          <p:cNvSpPr/>
          <p:nvPr/>
        </p:nvSpPr>
        <p:spPr>
          <a:xfrm>
            <a:off x="4343400" y="3813048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9" name="objectiv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0801" y="3960449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20640" y="37398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Terminate processes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41056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kill %n or PID with any signal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tage 1"/>
          <p:cNvSpPr/>
          <p:nvPr/>
        </p:nvSpPr>
        <p:spPr>
          <a:xfrm>
            <a:off x="457200" y="12801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tage 1 label"/>
          <p:cNvSpPr txBox="1"/>
          <p:nvPr/>
        </p:nvSpPr>
        <p:spPr>
          <a:xfrm>
            <a:off x="45720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  Read line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2194560" y="164592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stage 2"/>
          <p:cNvSpPr/>
          <p:nvPr/>
        </p:nvSpPr>
        <p:spPr>
          <a:xfrm>
            <a:off x="2651760" y="12801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stage 2 label"/>
          <p:cNvSpPr txBox="1"/>
          <p:nvPr/>
        </p:nvSpPr>
        <p:spPr>
          <a:xfrm>
            <a:off x="265176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  Tokenize + parse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4389120" y="164592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tage 3"/>
          <p:cNvSpPr/>
          <p:nvPr/>
        </p:nvSpPr>
        <p:spPr>
          <a:xfrm>
            <a:off x="4846320" y="12801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0" name="stage 3 label"/>
          <p:cNvSpPr txBox="1"/>
          <p:nvPr/>
        </p:nvSpPr>
        <p:spPr>
          <a:xfrm>
            <a:off x="484632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 Built-in?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6583680" y="164592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tage 4"/>
          <p:cNvSpPr/>
          <p:nvPr/>
        </p:nvSpPr>
        <p:spPr>
          <a:xfrm>
            <a:off x="7040880" y="12801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stage 4 label"/>
          <p:cNvSpPr txBox="1"/>
          <p:nvPr/>
        </p:nvSpPr>
        <p:spPr>
          <a:xfrm>
            <a:off x="704088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  fork + exec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yes: runs inside the shell</a:t>
            </a:r>
            <a:endParaRPr lang="en-US" sz="1200" dirty="0"/>
          </a:p>
        </p:txBody>
      </p:sp>
      <p:sp>
        <p:nvSpPr>
          <p:cNvPr id="15" name="branch stem"/>
          <p:cNvSpPr/>
          <p:nvPr/>
        </p:nvSpPr>
        <p:spPr>
          <a:xfrm>
            <a:off x="7909560" y="2011680"/>
            <a:ext cx="0" cy="50292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6" name="branch bar"/>
          <p:cNvSpPr/>
          <p:nvPr/>
        </p:nvSpPr>
        <p:spPr>
          <a:xfrm>
            <a:off x="5806440" y="2514600"/>
            <a:ext cx="21031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7" name="arrow"/>
          <p:cNvSpPr/>
          <p:nvPr/>
        </p:nvSpPr>
        <p:spPr>
          <a:xfrm>
            <a:off x="5806440" y="2514600"/>
            <a:ext cx="0" cy="32004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7909560" y="2514600"/>
            <a:ext cx="0" cy="32004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oreground"/>
          <p:cNvSpPr/>
          <p:nvPr/>
        </p:nvSpPr>
        <p:spPr>
          <a:xfrm>
            <a:off x="4846320" y="28346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foreground label"/>
          <p:cNvSpPr txBox="1"/>
          <p:nvPr/>
        </p:nvSpPr>
        <p:spPr>
          <a:xfrm>
            <a:off x="4846320" y="2834640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Foreground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waitpid + terminal</a:t>
            </a:r>
            <a:endParaRPr lang="en-US" sz="1300" dirty="0"/>
          </a:p>
        </p:txBody>
      </p:sp>
      <p:sp>
        <p:nvSpPr>
          <p:cNvPr id="21" name="background"/>
          <p:cNvSpPr/>
          <p:nvPr/>
        </p:nvSpPr>
        <p:spPr>
          <a:xfrm>
            <a:off x="6995160" y="28346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2" name="background label"/>
          <p:cNvSpPr txBox="1"/>
          <p:nvPr/>
        </p:nvSpPr>
        <p:spPr>
          <a:xfrm>
            <a:off x="6995160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Background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job table + [n] pid</a:t>
            </a:r>
            <a:endParaRPr lang="en-US" sz="1300" dirty="0"/>
          </a:p>
        </p:txBody>
      </p:sp>
      <p:sp>
        <p:nvSpPr>
          <p:cNvPr id="23" name="job table card"/>
          <p:cNvSpPr/>
          <p:nvPr/>
        </p:nvSpPr>
        <p:spPr>
          <a:xfrm>
            <a:off x="457200" y="283464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job table text"/>
          <p:cNvSpPr txBox="1"/>
          <p:nvPr/>
        </p:nvSpPr>
        <p:spPr>
          <a:xfrm>
            <a:off x="64008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Job table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| state | command  (64 slots)</a:t>
            </a:r>
            <a:endParaRPr lang="en-US" sz="1400" dirty="0"/>
          </a:p>
        </p:txBody>
      </p:sp>
      <p:sp>
        <p:nvSpPr>
          <p:cNvPr id="25" name="arrow"/>
          <p:cNvSpPr/>
          <p:nvPr/>
        </p:nvSpPr>
        <p:spPr>
          <a:xfrm>
            <a:off x="5806440" y="3611880"/>
            <a:ext cx="0" cy="36576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>
            <a:off x="7909560" y="3611880"/>
            <a:ext cx="0" cy="36576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sigchld bar"/>
          <p:cNvSpPr/>
          <p:nvPr/>
        </p:nvSpPr>
        <p:spPr>
          <a:xfrm>
            <a:off x="457200" y="3977640"/>
            <a:ext cx="83210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8" name="sigchld bar label"/>
          <p:cNvSpPr txBox="1"/>
          <p:nvPr/>
        </p:nvSpPr>
        <p:spPr>
          <a:xfrm>
            <a:off x="457200" y="3977640"/>
            <a:ext cx="8321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SIGCHLD handler updates job states; Done / Terminated is reported before the next prompt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Core design ideas</a:t>
            </a:r>
            <a:endParaRPr lang="en-US" sz="3200" dirty="0"/>
          </a:p>
        </p:txBody>
      </p:sp>
      <p:sp>
        <p:nvSpPr>
          <p:cNvPr id="3" name="idea card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idea 1 badg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idea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Process groups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Every job gets its own group (setpgid). Signals and terminal access are isolated, and kill %n reaches the whole job.</a:t>
            </a:r>
            <a:endParaRPr lang="en-US" sz="1300" dirty="0"/>
          </a:p>
        </p:txBody>
      </p:sp>
      <p:sp>
        <p:nvSpPr>
          <p:cNvPr id="8" name="idea card 2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idea 2 badg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0" name="idea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966" y="15142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Async reaping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SIGCHLD handler calls waitpid(WNOHANG) on each job, so finished jobs never become zombies.</a:t>
            </a:r>
            <a:endParaRPr lang="en-US" sz="1300" dirty="0"/>
          </a:p>
        </p:txBody>
      </p:sp>
      <p:sp>
        <p:nvSpPr>
          <p:cNvPr id="13" name="idea card 3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idea 3 badge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5" name="idea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320588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Race control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SIGCHLD is blocked from before fork until the job is registered, so no completion is ever missed.</a:t>
            </a:r>
            <a:endParaRPr lang="en-US" sz="1300" dirty="0"/>
          </a:p>
        </p:txBody>
      </p:sp>
      <p:sp>
        <p:nvSpPr>
          <p:cNvPr id="18" name="idea card 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idea 4 badge"/>
          <p:cNvSpPr/>
          <p:nvPr/>
        </p:nvSpPr>
        <p:spPr>
          <a:xfrm>
            <a:off x="4846320" y="306324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0" name="idea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966" y="320588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Terminal handoff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tcsetpgrp gives the keyboard to the foreground job. Ctrl-C and Ctrl-Z never hit the shell.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Job life cycle</a:t>
            </a:r>
            <a:endParaRPr lang="en-US" sz="3200" dirty="0"/>
          </a:p>
        </p:txBody>
      </p:sp>
      <p:sp>
        <p:nvSpPr>
          <p:cNvPr id="3" name="start"/>
          <p:cNvSpPr/>
          <p:nvPr/>
        </p:nvSpPr>
        <p:spPr>
          <a:xfrm>
            <a:off x="457200" y="201168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start label"/>
          <p:cNvSpPr txBox="1"/>
          <p:nvPr/>
        </p:nvSpPr>
        <p:spPr>
          <a:xfrm>
            <a:off x="45720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fork + exec</a:t>
            </a:r>
            <a:endParaRPr lang="en-US" sz="1300" dirty="0"/>
          </a:p>
        </p:txBody>
      </p:sp>
      <p:sp>
        <p:nvSpPr>
          <p:cNvPr id="5" name="arrow"/>
          <p:cNvSpPr/>
          <p:nvPr/>
        </p:nvSpPr>
        <p:spPr>
          <a:xfrm>
            <a:off x="1828800" y="2331720"/>
            <a:ext cx="173736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running"/>
          <p:cNvSpPr/>
          <p:nvPr/>
        </p:nvSpPr>
        <p:spPr>
          <a:xfrm>
            <a:off x="3566160" y="201168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running label"/>
          <p:cNvSpPr txBox="1"/>
          <p:nvPr/>
        </p:nvSpPr>
        <p:spPr>
          <a:xfrm>
            <a:off x="356616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RUNNING</a:t>
            </a:r>
            <a:endParaRPr lang="en-US" sz="1500" dirty="0"/>
          </a:p>
        </p:txBody>
      </p:sp>
      <p:sp>
        <p:nvSpPr>
          <p:cNvPr id="8" name="done"/>
          <p:cNvSpPr/>
          <p:nvPr/>
        </p:nvSpPr>
        <p:spPr>
          <a:xfrm>
            <a:off x="7040880" y="1280160"/>
            <a:ext cx="164592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9" name="done label"/>
          <p:cNvSpPr txBox="1"/>
          <p:nvPr/>
        </p:nvSpPr>
        <p:spPr>
          <a:xfrm>
            <a:off x="7040880" y="128016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(exit code)</a:t>
            </a:r>
            <a:endParaRPr lang="en-US" sz="1300" dirty="0"/>
          </a:p>
        </p:txBody>
      </p:sp>
      <p:sp>
        <p:nvSpPr>
          <p:cNvPr id="10" name="killed"/>
          <p:cNvSpPr/>
          <p:nvPr/>
        </p:nvSpPr>
        <p:spPr>
          <a:xfrm>
            <a:off x="7040880" y="2743200"/>
            <a:ext cx="164592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killed label"/>
          <p:cNvSpPr txBox="1"/>
          <p:nvPr/>
        </p:nvSpPr>
        <p:spPr>
          <a:xfrm>
            <a:off x="704088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KILLED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(by signal)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 flipV="1">
            <a:off x="5120640" y="1600200"/>
            <a:ext cx="1920240" cy="73152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5120640" y="2331720"/>
            <a:ext cx="1920240" cy="73152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39496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exit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signal</a:t>
            </a:r>
            <a:endParaRPr lang="en-US" sz="1200" dirty="0"/>
          </a:p>
        </p:txBody>
      </p:sp>
      <p:sp>
        <p:nvSpPr>
          <p:cNvPr id="16" name="stopped"/>
          <p:cNvSpPr/>
          <p:nvPr/>
        </p:nvSpPr>
        <p:spPr>
          <a:xfrm>
            <a:off x="3566160" y="35661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7" name="stopped label"/>
          <p:cNvSpPr txBox="1"/>
          <p:nvPr/>
        </p:nvSpPr>
        <p:spPr>
          <a:xfrm>
            <a:off x="356616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STOPPED</a:t>
            </a:r>
            <a:endParaRPr lang="en-US" sz="1500" dirty="0"/>
          </a:p>
        </p:txBody>
      </p:sp>
      <p:sp>
        <p:nvSpPr>
          <p:cNvPr id="18" name="arrow"/>
          <p:cNvSpPr/>
          <p:nvPr/>
        </p:nvSpPr>
        <p:spPr>
          <a:xfrm>
            <a:off x="3931920" y="2651760"/>
            <a:ext cx="0" cy="9144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arrow"/>
          <p:cNvSpPr/>
          <p:nvPr/>
        </p:nvSpPr>
        <p:spPr>
          <a:xfrm flipV="1">
            <a:off x="4754880" y="2651760"/>
            <a:ext cx="0" cy="9144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097280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5"/>
                </a:solidFill>
              </a:rPr>
              <a:t>Ctrl-Z / SIGSTOP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fg / bg / kill (SIGCONT)</a:t>
            </a:r>
            <a:endParaRPr lang="en-US" sz="1200" dirty="0"/>
          </a:p>
        </p:txBody>
      </p:sp>
      <p:sp>
        <p:nvSpPr>
          <p:cNvPr id="22" name="report note"/>
          <p:cNvSpPr/>
          <p:nvPr/>
        </p:nvSpPr>
        <p:spPr>
          <a:xfrm>
            <a:off x="5760720" y="3794760"/>
            <a:ext cx="29260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5216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Done and Killed are reported once, then the slot is freed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3" name="tech card 1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ch 1 badg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tech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5023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 (GNU11), gcc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Single-file implementation, built with -Wall -Wextra and zero warnings</a:t>
            </a:r>
            <a:endParaRPr lang="en-US" sz="1200" dirty="0"/>
          </a:p>
        </p:txBody>
      </p:sp>
      <p:sp>
        <p:nvSpPr>
          <p:cNvPr id="8" name="tech card 2"/>
          <p:cNvSpPr/>
          <p:nvPr/>
        </p:nvSpPr>
        <p:spPr>
          <a:xfrm>
            <a:off x="3264408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ch 2 badge"/>
          <p:cNvSpPr/>
          <p:nvPr/>
        </p:nvSpPr>
        <p:spPr>
          <a:xfrm>
            <a:off x="3447288" y="1371600"/>
            <a:ext cx="502920" cy="5029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0" name="tech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047" y="15023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POSIX processes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fork, execvp, waitpid, setpgid, tcsetpgrp, dup2</a:t>
            </a:r>
            <a:endParaRPr lang="en-US" sz="1200" dirty="0"/>
          </a:p>
        </p:txBody>
      </p:sp>
      <p:sp>
        <p:nvSpPr>
          <p:cNvPr id="13" name="tech card 3"/>
          <p:cNvSpPr/>
          <p:nvPr/>
        </p:nvSpPr>
        <p:spPr>
          <a:xfrm>
            <a:off x="6071616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ch 3 badge"/>
          <p:cNvSpPr/>
          <p:nvPr/>
        </p:nvSpPr>
        <p:spPr>
          <a:xfrm>
            <a:off x="6254496" y="137160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5" name="tech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255" y="150235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4576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POSIX signals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sigaction, sigprocmask, kill, SIGCHLD, SIGCONT</a:t>
            </a:r>
            <a:endParaRPr lang="en-US" sz="1200" dirty="0"/>
          </a:p>
        </p:txBody>
      </p:sp>
      <p:sp>
        <p:nvSpPr>
          <p:cNvPr id="18" name="tech card 4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ch 4 badge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0" name="tech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" y="319399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 harnesses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Bash for scripted tests, Python pty for Ctrl-C / Ctrl-Z</a:t>
            </a:r>
            <a:endParaRPr lang="en-US" sz="1200" dirty="0"/>
          </a:p>
        </p:txBody>
      </p:sp>
      <p:sp>
        <p:nvSpPr>
          <p:cNvPr id="23" name="tech card 5"/>
          <p:cNvSpPr/>
          <p:nvPr/>
        </p:nvSpPr>
        <p:spPr>
          <a:xfrm>
            <a:off x="3264408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ch 5 badge"/>
          <p:cNvSpPr/>
          <p:nvPr/>
        </p:nvSpPr>
        <p:spPr>
          <a:xfrm>
            <a:off x="3447288" y="3063240"/>
            <a:ext cx="502920" cy="50292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5" name="tech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8047" y="319399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7368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Make and Git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make, make test, GitHub repository with documentation</a:t>
            </a:r>
            <a:endParaRPr lang="en-US" sz="1200" dirty="0"/>
          </a:p>
        </p:txBody>
      </p:sp>
      <p:sp>
        <p:nvSpPr>
          <p:cNvPr id="28" name="tech card 6"/>
          <p:cNvSpPr/>
          <p:nvPr/>
        </p:nvSpPr>
        <p:spPr>
          <a:xfrm>
            <a:off x="6071616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tech 6 badge"/>
          <p:cNvSpPr/>
          <p:nvPr/>
        </p:nvSpPr>
        <p:spPr>
          <a:xfrm>
            <a:off x="6254496" y="306324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tech 6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5255" y="3193999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94576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Linux man pages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signal-safety(7), setpgid(2), waitpid(2) as references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a command runs</a:t>
            </a:r>
            <a:endParaRPr lang="en-US" sz="3200" dirty="0"/>
          </a:p>
        </p:txBody>
      </p:sp>
      <p:sp>
        <p:nvSpPr>
          <p:cNvPr id="3" name="step 1 badge"/>
          <p:cNvSpPr/>
          <p:nvPr/>
        </p:nvSpPr>
        <p:spPr>
          <a:xfrm>
            <a:off x="457200" y="122529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45720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1 text"/>
          <p:cNvSpPr txBox="1"/>
          <p:nvPr/>
        </p:nvSpPr>
        <p:spPr>
          <a:xfrm>
            <a:off x="100584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Block SIGCHLD, then fork</a:t>
            </a:r>
            <a:endParaRPr lang="en-US" sz="1400" dirty="0"/>
          </a:p>
        </p:txBody>
      </p:sp>
      <p:sp>
        <p:nvSpPr>
          <p:cNvPr id="6" name="step 2 badge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2 number"/>
          <p:cNvSpPr txBox="1"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2 text"/>
          <p:cNvSpPr txBox="1"/>
          <p:nvPr/>
        </p:nvSpPr>
        <p:spPr>
          <a:xfrm>
            <a:off x="100584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Child: setpgid(0, 0)</a:t>
            </a:r>
            <a:endParaRPr lang="en-US" sz="1400" dirty="0"/>
          </a:p>
        </p:txBody>
      </p:sp>
      <p:sp>
        <p:nvSpPr>
          <p:cNvPr id="9" name="step 3 badge"/>
          <p:cNvSpPr/>
          <p:nvPr/>
        </p:nvSpPr>
        <p:spPr>
          <a:xfrm>
            <a:off x="457200" y="232257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tep 3 number"/>
          <p:cNvSpPr txBox="1"/>
          <p:nvPr/>
        </p:nvSpPr>
        <p:spPr>
          <a:xfrm>
            <a:off x="45720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3 text"/>
          <p:cNvSpPr txBox="1"/>
          <p:nvPr/>
        </p:nvSpPr>
        <p:spPr>
          <a:xfrm>
            <a:off x="100584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Child: restore default signals</a:t>
            </a:r>
            <a:endParaRPr lang="en-US" sz="1400" dirty="0"/>
          </a:p>
        </p:txBody>
      </p:sp>
      <p:sp>
        <p:nvSpPr>
          <p:cNvPr id="12" name="step 4 badge"/>
          <p:cNvSpPr/>
          <p:nvPr/>
        </p:nvSpPr>
        <p:spPr>
          <a:xfrm>
            <a:off x="457200" y="287121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4 number"/>
          <p:cNvSpPr txBox="1"/>
          <p:nvPr/>
        </p:nvSpPr>
        <p:spPr>
          <a:xfrm>
            <a:off x="45720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4 text"/>
          <p:cNvSpPr txBox="1"/>
          <p:nvPr/>
        </p:nvSpPr>
        <p:spPr>
          <a:xfrm>
            <a:off x="100584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Child: apply &lt; &gt; &gt;&gt; redirects</a:t>
            </a:r>
            <a:endParaRPr lang="en-US" sz="1400" dirty="0"/>
          </a:p>
        </p:txBody>
      </p:sp>
      <p:sp>
        <p:nvSpPr>
          <p:cNvPr id="15" name="step 5 badge"/>
          <p:cNvSpPr/>
          <p:nvPr/>
        </p:nvSpPr>
        <p:spPr>
          <a:xfrm>
            <a:off x="457200" y="341985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step 5 number"/>
          <p:cNvSpPr txBox="1"/>
          <p:nvPr/>
        </p:nvSpPr>
        <p:spPr>
          <a:xfrm>
            <a:off x="45720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tep 5 text"/>
          <p:cNvSpPr txBox="1"/>
          <p:nvPr/>
        </p:nvSpPr>
        <p:spPr>
          <a:xfrm>
            <a:off x="100584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Child: execvp, else exit 127</a:t>
            </a:r>
            <a:endParaRPr lang="en-US" sz="1400" dirty="0"/>
          </a:p>
        </p:txBody>
      </p:sp>
      <p:sp>
        <p:nvSpPr>
          <p:cNvPr id="18" name="step 6 badge"/>
          <p:cNvSpPr/>
          <p:nvPr/>
        </p:nvSpPr>
        <p:spPr>
          <a:xfrm>
            <a:off x="457200" y="3968496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9" name="step 6 number"/>
          <p:cNvSpPr txBox="1"/>
          <p:nvPr/>
        </p:nvSpPr>
        <p:spPr>
          <a:xfrm>
            <a:off x="45720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step 6 text"/>
          <p:cNvSpPr txBox="1"/>
          <p:nvPr/>
        </p:nvSpPr>
        <p:spPr>
          <a:xfrm>
            <a:off x="100584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Parent: register job, print [n] pid</a:t>
            </a:r>
            <a:endParaRPr lang="en-US" sz="1400" dirty="0"/>
          </a:p>
        </p:txBody>
      </p:sp>
      <p:sp>
        <p:nvSpPr>
          <p:cNvPr id="21" name="code card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2" name="code text"/>
          <p:cNvSpPr txBox="1"/>
          <p:nvPr/>
        </p:nvSpPr>
        <p:spPr>
          <a:xfrm>
            <a:off x="4846320" y="13258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= fork();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(pid == 0)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setpgid(0, 0);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default signals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dup2 redirects 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execvp(argv[0], argv);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_exit(127);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setpgid(pid, pid);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(background)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add_job(pid, cmd);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wait_foreground(pid);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shell supports</a:t>
            </a:r>
            <a:endParaRPr lang="en-US" sz="3200" dirty="0"/>
          </a:p>
        </p:txBody>
      </p:sp>
      <p:graphicFrame>
        <p:nvGraphicFramePr>
          <p:cNvPr id="9" name="comman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Behaviour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cmd args [&amp;]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</a:rPr>
                        <a:t>Run a program; &amp; runs it in the background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cmd &lt; in &gt; out &gt;&gt; 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</a:rPr>
                        <a:t>Redirect input and output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</a:rPr>
                        <a:t>List jobs: ID, PID, state, command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fg [%n]   bg [%n]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</a:rPr>
                        <a:t>Resume a job in the foreground or background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kill [-SIG] %n | pid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</a:rPr>
                        <a:t>Signal a job or process; TERM by default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 help  exit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</a:rPr>
                        <a:t>Built-ins; exit terminates remaining jobs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Testing and validation</a:t>
            </a:r>
            <a:endParaRPr lang="en-US" sz="3200" dirty="0"/>
          </a:p>
        </p:txBody>
      </p:sp>
      <p:sp>
        <p:nvSpPr>
          <p:cNvPr id="3" name="stat card"/>
          <p:cNvSpPr/>
          <p:nvPr/>
        </p:nvSpPr>
        <p:spPr>
          <a:xfrm>
            <a:off x="457200" y="1188720"/>
            <a:ext cx="2743200" cy="329184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tat number"/>
          <p:cNvSpPr txBox="1"/>
          <p:nvPr/>
        </p:nvSpPr>
        <p:spPr>
          <a:xfrm>
            <a:off x="457200" y="1417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6"/>
                </a:solidFill>
              </a:rPr>
              <a:t>33/33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automated tests pass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26 scripted + 7 in a pseudo-terminal, run with make test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474720" y="118872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Live session output</a:t>
            </a:r>
            <a:endParaRPr lang="en-US" sz="3200" dirty="0"/>
          </a:p>
        </p:txBody>
      </p:sp>
      <p:sp>
        <p:nvSpPr>
          <p:cNvPr id="3" name="session card"/>
          <p:cNvSpPr/>
          <p:nvPr/>
        </p:nvSpPr>
        <p:spPr>
          <a:xfrm>
            <a:off x="457200" y="1188720"/>
            <a:ext cx="512064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" name="session text"/>
          <p:cNvSpPr txBox="1"/>
          <p:nvPr/>
        </p:nvSpPr>
        <p:spPr>
          <a:xfrm>
            <a:off x="640080" y="13258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mysh&gt; sleep 60 &amp;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564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mysh&gt; sleep 2 &amp;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565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mysh&gt; jobs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564  Running     sleep 60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565  Running     sleep 2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mysh&gt; kill %1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564  Terminated  sleep 60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mysh&gt; sleep 3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565  Done        sleep 2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mysh&gt; jobs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jobs.</a:t>
            </a:r>
            <a:endParaRPr lang="en-US" sz="1200" dirty="0"/>
          </a:p>
        </p:txBody>
      </p:sp>
      <p:sp>
        <p:nvSpPr>
          <p:cNvPr id="5" name="result 1 badge"/>
          <p:cNvSpPr/>
          <p:nvPr/>
        </p:nvSpPr>
        <p:spPr>
          <a:xfrm>
            <a:off x="5852160" y="12801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result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3990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Responsive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prompt returns at once after &amp;</a:t>
            </a:r>
            <a:endParaRPr lang="en-US" sz="1200" dirty="0"/>
          </a:p>
        </p:txBody>
      </p:sp>
      <p:sp>
        <p:nvSpPr>
          <p:cNvPr id="9" name="result 2 badge"/>
          <p:cNvSpPr/>
          <p:nvPr/>
        </p:nvSpPr>
        <p:spPr>
          <a:xfrm>
            <a:off x="5852160" y="21305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result 2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224942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2039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Automatic reporting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404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Done and Terminated appear unprompted</a:t>
            </a:r>
            <a:endParaRPr lang="en-US" sz="1200" dirty="0"/>
          </a:p>
        </p:txBody>
      </p:sp>
      <p:sp>
        <p:nvSpPr>
          <p:cNvPr id="13" name="result 3 badge"/>
          <p:cNvSpPr/>
          <p:nvPr/>
        </p:nvSpPr>
        <p:spPr>
          <a:xfrm>
            <a:off x="5852160" y="298094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result 3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309981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92240" y="28895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Correct targeting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3255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signals reach the right job only</a:t>
            </a:r>
            <a:endParaRPr lang="en-US" sz="1200" dirty="0"/>
          </a:p>
        </p:txBody>
      </p:sp>
      <p:sp>
        <p:nvSpPr>
          <p:cNvPr id="17" name="result 4 badge"/>
          <p:cNvSpPr/>
          <p:nvPr/>
        </p:nvSpPr>
        <p:spPr>
          <a:xfrm>
            <a:off x="5852160" y="383133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result 4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395020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92240" y="3739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Clean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492240" y="41056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no zombies, nothing left after exit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Impact and next steps</a:t>
            </a:r>
            <a:endParaRPr lang="en-US" sz="3200" dirty="0"/>
          </a:p>
        </p:txBody>
      </p:sp>
      <p:sp>
        <p:nvSpPr>
          <p:cNvPr id="3" name="impact card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impact badge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impact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we gained</a:t>
            </a:r>
            <a:endParaRPr lang="en-US" sz="2000" dirty="0"/>
          </a:p>
        </p:txBody>
      </p:sp>
      <p:sp>
        <p:nvSpPr>
          <p:cNvPr id="7" name="impact list"/>
          <p:cNvSpPr txBox="1"/>
          <p:nvPr/>
        </p:nvSpPr>
        <p:spPr>
          <a:xfrm>
            <a:off x="685800" y="210312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real shells implement job control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groups, sessions and the controlling terminal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Signal handling and its race conditions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tested, documented base to extend</a:t>
            </a:r>
            <a:endParaRPr lang="en-US" sz="1600" dirty="0"/>
          </a:p>
        </p:txBody>
      </p:sp>
      <p:sp>
        <p:nvSpPr>
          <p:cNvPr id="8" name="future card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future badge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0" name="futur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86" y="15142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2" name="future list"/>
          <p:cNvSpPr txBox="1"/>
          <p:nvPr/>
        </p:nvSpPr>
        <p:spPr>
          <a:xfrm>
            <a:off x="4892040" y="210312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Pipelines with |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; and &amp;&amp; command lists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History, globbing, variables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disown, wait, jobs -l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sh terminal">
  <a:themeElements>
    <a:clrScheme name="mysh terminal">
      <a:dk1>
        <a:srgbClr val="17212B"/>
      </a:dk1>
      <a:lt1>
        <a:srgbClr val="FFFFFF"/>
      </a:lt1>
      <a:dk2>
        <a:srgbClr val="0E2A26"/>
      </a:dk2>
      <a:lt2>
        <a:srgbClr val="EAF3EF"/>
      </a:lt2>
      <a:accent1>
        <a:srgbClr val="1F9E75"/>
      </a:accent1>
      <a:accent2>
        <a:srgbClr val="E8A93A"/>
      </a:accent2>
      <a:accent3>
        <a:srgbClr val="3A86A8"/>
      </a:accent3>
      <a:accent4>
        <a:srgbClr val="D8554E"/>
      </a:accent4>
      <a:accent5>
        <a:srgbClr val="5F7380"/>
      </a:accent5>
      <a:accent6>
        <a:srgbClr val="8FD6B8"/>
      </a:accent6>
      <a:hlink>
        <a:srgbClr val="1F9E75"/>
      </a:hlink>
      <a:folHlink>
        <a:srgbClr val="5F7380"/>
      </a:folHlink>
    </a:clrScheme>
    <a:fontScheme name="mysh termi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1221</Words>
  <Application>Microsoft Office PowerPoint</Application>
  <PresentationFormat>On-screen Show (16:9)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mysh terminal</vt:lpstr>
      <vt:lpstr>Mini Linux Shell with Background Job Management</vt:lpstr>
      <vt:lpstr>Problem and objectives</vt:lpstr>
      <vt:lpstr>System architecture</vt:lpstr>
      <vt:lpstr>Core design ideas</vt:lpstr>
      <vt:lpstr>Job life cycle</vt:lpstr>
      <vt:lpstr>Technologies used</vt:lpstr>
      <vt:lpstr>How a command runs</vt:lpstr>
      <vt:lpstr>What the shell supports</vt:lpstr>
      <vt:lpstr>Testing and validation</vt:lpstr>
      <vt:lpstr>Live session output</vt:lpstr>
      <vt:lpstr>Impact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mysh - Mini Linux Shell with Background Job Management</dc:title>
  <dc:subject>PptxGenJS Presentation</dc:subject>
  <dc:creator>PptxGenJS</dc:creator>
  <cp:lastModifiedBy>Nehasree Padamati</cp:lastModifiedBy>
  <cp:revision>5</cp:revision>
  <dcterms:created xsi:type="dcterms:W3CDTF">2026-10-17T04:52:42Z</dcterms:created>
  <dcterms:modified xsi:type="dcterms:W3CDTF">2026-10-17T05:22:38Z</dcterms:modified>
</cp:coreProperties>
</file>